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BD6141D7-4590-4529-AA8A-475E8DF146AB}"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7203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spTree>
    <p:extLst>
      <p:ext uri="{BB962C8B-B14F-4D97-AF65-F5344CB8AC3E}">
        <p14:creationId xmlns:p14="http://schemas.microsoft.com/office/powerpoint/2010/main" val="843272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8613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4CD201-6BDF-4AE7-8AAB-427505A14B40}"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6141D7-4590-4529-AA8A-475E8DF146AB}" type="slidenum">
              <a:rPr lang="en-IN" smtClean="0"/>
              <a:t>‹#›</a:t>
            </a:fld>
            <a:endParaRPr lang="en-IN"/>
          </a:p>
        </p:txBody>
      </p:sp>
    </p:spTree>
    <p:extLst>
      <p:ext uri="{BB962C8B-B14F-4D97-AF65-F5344CB8AC3E}">
        <p14:creationId xmlns:p14="http://schemas.microsoft.com/office/powerpoint/2010/main" val="3187715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4CD201-6BDF-4AE7-8AAB-427505A14B40}" type="datetimeFigureOut">
              <a:rPr lang="en-IN" smtClean="0"/>
              <a:t>13-12-2023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6141D7-4590-4529-AA8A-475E8DF146AB}"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0879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4CD201-6BDF-4AE7-8AAB-427505A14B40}" type="datetimeFigureOut">
              <a:rPr lang="en-IN" smtClean="0"/>
              <a:t>13-12-2023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6141D7-4590-4529-AA8A-475E8DF146A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380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4CD201-6BDF-4AE7-8AAB-427505A14B40}" type="datetimeFigureOut">
              <a:rPr lang="en-IN" smtClean="0"/>
              <a:t>13-12-2023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6141D7-4590-4529-AA8A-475E8DF146AB}" type="slidenum">
              <a:rPr lang="en-IN" smtClean="0"/>
              <a:t>‹#›</a:t>
            </a:fld>
            <a:endParaRPr lang="en-IN"/>
          </a:p>
        </p:txBody>
      </p:sp>
    </p:spTree>
    <p:extLst>
      <p:ext uri="{BB962C8B-B14F-4D97-AF65-F5344CB8AC3E}">
        <p14:creationId xmlns:p14="http://schemas.microsoft.com/office/powerpoint/2010/main" val="688920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4CD201-6BDF-4AE7-8AAB-427505A14B40}"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6141D7-4590-4529-AA8A-475E8DF146AB}"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6246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4CD201-6BDF-4AE7-8AAB-427505A14B40}"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6141D7-4590-4529-AA8A-475E8DF146AB}" type="slidenum">
              <a:rPr lang="en-IN" smtClean="0"/>
              <a:t>‹#›</a:t>
            </a:fld>
            <a:endParaRPr lang="en-IN"/>
          </a:p>
        </p:txBody>
      </p:sp>
    </p:spTree>
    <p:extLst>
      <p:ext uri="{BB962C8B-B14F-4D97-AF65-F5344CB8AC3E}">
        <p14:creationId xmlns:p14="http://schemas.microsoft.com/office/powerpoint/2010/main" val="3002699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4CD201-6BDF-4AE7-8AAB-427505A14B40}"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6141D7-4590-4529-AA8A-475E8DF146AB}" type="slidenum">
              <a:rPr lang="en-IN" smtClean="0"/>
              <a:t>‹#›</a:t>
            </a:fld>
            <a:endParaRPr lang="en-IN"/>
          </a:p>
        </p:txBody>
      </p:sp>
    </p:spTree>
    <p:extLst>
      <p:ext uri="{BB962C8B-B14F-4D97-AF65-F5344CB8AC3E}">
        <p14:creationId xmlns:p14="http://schemas.microsoft.com/office/powerpoint/2010/main" val="2702421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7874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1922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spTree>
    <p:extLst>
      <p:ext uri="{BB962C8B-B14F-4D97-AF65-F5344CB8AC3E}">
        <p14:creationId xmlns:p14="http://schemas.microsoft.com/office/powerpoint/2010/main" val="1167927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6088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7445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9277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4CD201-6BDF-4AE7-8AAB-427505A14B40}"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6141D7-4590-4529-AA8A-475E8DF146AB}"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9046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4.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54CD201-6BDF-4AE7-8AAB-427505A14B40}" type="datetimeFigureOut">
              <a:rPr lang="en-IN" smtClean="0"/>
              <a:t>13-12-2023</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D6141D7-4590-4529-AA8A-475E8DF146AB}" type="slidenum">
              <a:rPr lang="en-IN" smtClean="0"/>
              <a:t>‹#›</a:t>
            </a:fld>
            <a:endParaRPr lang="en-IN"/>
          </a:p>
        </p:txBody>
      </p:sp>
    </p:spTree>
    <p:extLst>
      <p:ext uri="{BB962C8B-B14F-4D97-AF65-F5344CB8AC3E}">
        <p14:creationId xmlns:p14="http://schemas.microsoft.com/office/powerpoint/2010/main" val="10632370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1DBB6-D825-791B-4316-394D8780DAC1}"/>
              </a:ext>
            </a:extLst>
          </p:cNvPr>
          <p:cNvSpPr>
            <a:spLocks noGrp="1"/>
          </p:cNvSpPr>
          <p:nvPr>
            <p:ph type="ctrTitle"/>
          </p:nvPr>
        </p:nvSpPr>
        <p:spPr/>
        <p:txBody>
          <a:bodyPr/>
          <a:lstStyle/>
          <a:p>
            <a:r>
              <a:rPr lang="en-IN" sz="4400" dirty="0"/>
              <a:t>Strategic Recommendation for Lexus Company</a:t>
            </a:r>
          </a:p>
        </p:txBody>
      </p:sp>
      <p:sp>
        <p:nvSpPr>
          <p:cNvPr id="3" name="Subtitle 2">
            <a:extLst>
              <a:ext uri="{FF2B5EF4-FFF2-40B4-BE49-F238E27FC236}">
                <a16:creationId xmlns:a16="http://schemas.microsoft.com/office/drawing/2014/main" id="{ABF450EC-EB89-9483-7F8B-AF5D09491C91}"/>
              </a:ext>
            </a:extLst>
          </p:cNvPr>
          <p:cNvSpPr>
            <a:spLocks noGrp="1"/>
          </p:cNvSpPr>
          <p:nvPr>
            <p:ph type="subTitle" idx="1"/>
          </p:nvPr>
        </p:nvSpPr>
        <p:spPr/>
        <p:txBody>
          <a:bodyPr>
            <a:normAutofit/>
          </a:bodyPr>
          <a:lstStyle/>
          <a:p>
            <a:r>
              <a:rPr lang="en-IN" dirty="0"/>
              <a:t>Name</a:t>
            </a:r>
          </a:p>
          <a:p>
            <a:endParaRPr lang="en-IN" dirty="0"/>
          </a:p>
        </p:txBody>
      </p:sp>
    </p:spTree>
    <p:extLst>
      <p:ext uri="{BB962C8B-B14F-4D97-AF65-F5344CB8AC3E}">
        <p14:creationId xmlns:p14="http://schemas.microsoft.com/office/powerpoint/2010/main" val="170330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39A1-BCE5-9280-43E9-B49D78C8FF1B}"/>
              </a:ext>
            </a:extLst>
          </p:cNvPr>
          <p:cNvSpPr>
            <a:spLocks noGrp="1"/>
          </p:cNvSpPr>
          <p:nvPr>
            <p:ph type="title"/>
          </p:nvPr>
        </p:nvSpPr>
        <p:spPr/>
        <p:txBody>
          <a:bodyPr/>
          <a:lstStyle/>
          <a:p>
            <a:r>
              <a:rPr lang="en-IN" dirty="0"/>
              <a:t>Introduction about Lexus</a:t>
            </a:r>
          </a:p>
        </p:txBody>
      </p:sp>
      <p:sp>
        <p:nvSpPr>
          <p:cNvPr id="3" name="Content Placeholder 2">
            <a:extLst>
              <a:ext uri="{FF2B5EF4-FFF2-40B4-BE49-F238E27FC236}">
                <a16:creationId xmlns:a16="http://schemas.microsoft.com/office/drawing/2014/main" id="{DD8220DA-30AB-4CF5-5DC3-6FA6B3C4012E}"/>
              </a:ext>
            </a:extLst>
          </p:cNvPr>
          <p:cNvSpPr>
            <a:spLocks noGrp="1"/>
          </p:cNvSpPr>
          <p:nvPr>
            <p:ph idx="1"/>
          </p:nvPr>
        </p:nvSpPr>
        <p:spPr/>
        <p:txBody>
          <a:bodyPr/>
          <a:lstStyle/>
          <a:p>
            <a:r>
              <a:rPr lang="en-IN" dirty="0"/>
              <a:t>In automotive industry Japanese automaker Toyota Motor Corporation introduced the new company is the Lexus company.</a:t>
            </a:r>
          </a:p>
          <a:p>
            <a:r>
              <a:rPr lang="en-IN" dirty="0"/>
              <a:t>This company provided the automotive financing services and this company provided the good brand of the vehicle products to the customers. </a:t>
            </a:r>
          </a:p>
          <a:p>
            <a:r>
              <a:rPr lang="en-IN" dirty="0"/>
              <a:t>In marketing the essential operation is the management of the good brand image and it will useful for the financial growth of the company in market. </a:t>
            </a:r>
          </a:p>
        </p:txBody>
      </p:sp>
    </p:spTree>
    <p:extLst>
      <p:ext uri="{BB962C8B-B14F-4D97-AF65-F5344CB8AC3E}">
        <p14:creationId xmlns:p14="http://schemas.microsoft.com/office/powerpoint/2010/main" val="2711704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C838-919D-523E-A0B4-F6EFCB236E1A}"/>
              </a:ext>
            </a:extLst>
          </p:cNvPr>
          <p:cNvSpPr>
            <a:spLocks noGrp="1"/>
          </p:cNvSpPr>
          <p:nvPr>
            <p:ph type="title"/>
          </p:nvPr>
        </p:nvSpPr>
        <p:spPr/>
        <p:txBody>
          <a:bodyPr/>
          <a:lstStyle/>
          <a:p>
            <a:r>
              <a:rPr lang="en-IN" dirty="0"/>
              <a:t>Lexus Brand Management Details</a:t>
            </a:r>
          </a:p>
        </p:txBody>
      </p:sp>
      <p:sp>
        <p:nvSpPr>
          <p:cNvPr id="3" name="Content Placeholder 2">
            <a:extLst>
              <a:ext uri="{FF2B5EF4-FFF2-40B4-BE49-F238E27FC236}">
                <a16:creationId xmlns:a16="http://schemas.microsoft.com/office/drawing/2014/main" id="{989F872E-5CCD-5A6A-BF19-84AB5B3FFF6F}"/>
              </a:ext>
            </a:extLst>
          </p:cNvPr>
          <p:cNvSpPr>
            <a:spLocks noGrp="1"/>
          </p:cNvSpPr>
          <p:nvPr>
            <p:ph idx="1"/>
          </p:nvPr>
        </p:nvSpPr>
        <p:spPr/>
        <p:txBody>
          <a:bodyPr/>
          <a:lstStyle/>
          <a:p>
            <a:r>
              <a:rPr lang="en-IN" dirty="0"/>
              <a:t>The success of the organization is depends on the brand name in the market and if the organization have good brand image, many of the customers are trusted the company provided services and company sales are improved with the good brand image in market.</a:t>
            </a:r>
          </a:p>
          <a:p>
            <a:r>
              <a:rPr lang="en-IN" dirty="0"/>
              <a:t>In manufacturing of the luxury vehicles the Toyota introduced this subsidiary company is Lexus company.</a:t>
            </a:r>
          </a:p>
          <a:p>
            <a:endParaRPr lang="en-IN" dirty="0"/>
          </a:p>
        </p:txBody>
      </p:sp>
    </p:spTree>
    <p:extLst>
      <p:ext uri="{BB962C8B-B14F-4D97-AF65-F5344CB8AC3E}">
        <p14:creationId xmlns:p14="http://schemas.microsoft.com/office/powerpoint/2010/main" val="3003656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C838-919D-523E-A0B4-F6EFCB236E1A}"/>
              </a:ext>
            </a:extLst>
          </p:cNvPr>
          <p:cNvSpPr>
            <a:spLocks noGrp="1"/>
          </p:cNvSpPr>
          <p:nvPr>
            <p:ph type="title"/>
          </p:nvPr>
        </p:nvSpPr>
        <p:spPr/>
        <p:txBody>
          <a:bodyPr/>
          <a:lstStyle/>
          <a:p>
            <a:r>
              <a:rPr lang="en-IN" dirty="0"/>
              <a:t>Lexus Brand Management Details</a:t>
            </a:r>
          </a:p>
        </p:txBody>
      </p:sp>
      <p:sp>
        <p:nvSpPr>
          <p:cNvPr id="3" name="Content Placeholder 2">
            <a:extLst>
              <a:ext uri="{FF2B5EF4-FFF2-40B4-BE49-F238E27FC236}">
                <a16:creationId xmlns:a16="http://schemas.microsoft.com/office/drawing/2014/main" id="{989F872E-5CCD-5A6A-BF19-84AB5B3FFF6F}"/>
              </a:ext>
            </a:extLst>
          </p:cNvPr>
          <p:cNvSpPr>
            <a:spLocks noGrp="1"/>
          </p:cNvSpPr>
          <p:nvPr>
            <p:ph idx="1"/>
          </p:nvPr>
        </p:nvSpPr>
        <p:spPr/>
        <p:txBody>
          <a:bodyPr/>
          <a:lstStyle/>
          <a:p>
            <a:r>
              <a:rPr lang="en-IN" dirty="0"/>
              <a:t>In Lexus company from past days changed the activities in brand management and happened some changes previous for getting of good brand name in the market.</a:t>
            </a:r>
          </a:p>
          <a:p>
            <a:r>
              <a:rPr lang="en-IN" dirty="0"/>
              <a:t>The Lexus company need some brand management changes for increasing of the customer trust in Lexus company provided products and services. </a:t>
            </a:r>
          </a:p>
          <a:p>
            <a:r>
              <a:rPr lang="en-IN" dirty="0"/>
              <a:t>The brand management changes will helpful for the increase of the Lexus company profits and sales in market. </a:t>
            </a:r>
          </a:p>
        </p:txBody>
      </p:sp>
    </p:spTree>
    <p:extLst>
      <p:ext uri="{BB962C8B-B14F-4D97-AF65-F5344CB8AC3E}">
        <p14:creationId xmlns:p14="http://schemas.microsoft.com/office/powerpoint/2010/main" val="176820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3859-AB07-6844-19A8-97303C8BAFD6}"/>
              </a:ext>
            </a:extLst>
          </p:cNvPr>
          <p:cNvSpPr>
            <a:spLocks noGrp="1"/>
          </p:cNvSpPr>
          <p:nvPr>
            <p:ph type="title"/>
          </p:nvPr>
        </p:nvSpPr>
        <p:spPr/>
        <p:txBody>
          <a:bodyPr/>
          <a:lstStyle/>
          <a:p>
            <a:r>
              <a:rPr lang="en-IN" dirty="0"/>
              <a:t>Lexus Brand Management Changes</a:t>
            </a:r>
          </a:p>
        </p:txBody>
      </p:sp>
      <p:sp>
        <p:nvSpPr>
          <p:cNvPr id="3" name="Content Placeholder 2">
            <a:extLst>
              <a:ext uri="{FF2B5EF4-FFF2-40B4-BE49-F238E27FC236}">
                <a16:creationId xmlns:a16="http://schemas.microsoft.com/office/drawing/2014/main" id="{12E35936-DF0A-55DA-131C-0CB39820F637}"/>
              </a:ext>
            </a:extLst>
          </p:cNvPr>
          <p:cNvSpPr>
            <a:spLocks noGrp="1"/>
          </p:cNvSpPr>
          <p:nvPr>
            <p:ph idx="1"/>
          </p:nvPr>
        </p:nvSpPr>
        <p:spPr/>
        <p:txBody>
          <a:bodyPr/>
          <a:lstStyle/>
          <a:p>
            <a:r>
              <a:rPr lang="en-IN" dirty="0"/>
              <a:t>The Lexus company need to do some changes on the company products marketing strategies. </a:t>
            </a:r>
          </a:p>
          <a:p>
            <a:r>
              <a:rPr lang="en-IN" dirty="0"/>
              <a:t>Need to conduct competitor analysis and required to improve the product quality and try to increase the customers for products sales by proving of the good features with reasonable cost to the customers.</a:t>
            </a:r>
          </a:p>
          <a:p>
            <a:r>
              <a:rPr lang="en-IN" dirty="0"/>
              <a:t>Now the brand name and logo is identified by customers and need to do some changes on packaging, pricing, and products related operations. </a:t>
            </a:r>
          </a:p>
          <a:p>
            <a:endParaRPr lang="en-IN" dirty="0"/>
          </a:p>
        </p:txBody>
      </p:sp>
    </p:spTree>
    <p:extLst>
      <p:ext uri="{BB962C8B-B14F-4D97-AF65-F5344CB8AC3E}">
        <p14:creationId xmlns:p14="http://schemas.microsoft.com/office/powerpoint/2010/main" val="118358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6E1A-218B-6433-45D4-C628803D61CA}"/>
              </a:ext>
            </a:extLst>
          </p:cNvPr>
          <p:cNvSpPr>
            <a:spLocks noGrp="1"/>
          </p:cNvSpPr>
          <p:nvPr>
            <p:ph type="title"/>
          </p:nvPr>
        </p:nvSpPr>
        <p:spPr/>
        <p:txBody>
          <a:bodyPr/>
          <a:lstStyle/>
          <a:p>
            <a:r>
              <a:rPr lang="en-IN" dirty="0"/>
              <a:t>Proposal about Brand Strategy</a:t>
            </a:r>
          </a:p>
        </p:txBody>
      </p:sp>
      <p:sp>
        <p:nvSpPr>
          <p:cNvPr id="3" name="Content Placeholder 2">
            <a:extLst>
              <a:ext uri="{FF2B5EF4-FFF2-40B4-BE49-F238E27FC236}">
                <a16:creationId xmlns:a16="http://schemas.microsoft.com/office/drawing/2014/main" id="{25E67A84-1C75-91DD-A2A7-A2FEF887151A}"/>
              </a:ext>
            </a:extLst>
          </p:cNvPr>
          <p:cNvSpPr>
            <a:spLocks noGrp="1"/>
          </p:cNvSpPr>
          <p:nvPr>
            <p:ph idx="1"/>
          </p:nvPr>
        </p:nvSpPr>
        <p:spPr/>
        <p:txBody>
          <a:bodyPr/>
          <a:lstStyle/>
          <a:p>
            <a:r>
              <a:rPr lang="en-IN" dirty="0"/>
              <a:t>This company present manufactured the products for high-end markets and the manufacturing cost of the products high and so products cost also increased and due to the high prices, all categories of the customers are unable to buy the products in market.</a:t>
            </a:r>
          </a:p>
          <a:p>
            <a:r>
              <a:rPr lang="en-IN" dirty="0"/>
              <a:t>The main weakness of the Lexus company is high pricing models and need to overcome this with the design and development of models for all category of the customers like low and medium category class of customers and try to reduce the price of models in market. </a:t>
            </a:r>
          </a:p>
        </p:txBody>
      </p:sp>
    </p:spTree>
    <p:extLst>
      <p:ext uri="{BB962C8B-B14F-4D97-AF65-F5344CB8AC3E}">
        <p14:creationId xmlns:p14="http://schemas.microsoft.com/office/powerpoint/2010/main" val="2628512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6E1A-218B-6433-45D4-C628803D61CA}"/>
              </a:ext>
            </a:extLst>
          </p:cNvPr>
          <p:cNvSpPr>
            <a:spLocks noGrp="1"/>
          </p:cNvSpPr>
          <p:nvPr>
            <p:ph type="title"/>
          </p:nvPr>
        </p:nvSpPr>
        <p:spPr/>
        <p:txBody>
          <a:bodyPr/>
          <a:lstStyle/>
          <a:p>
            <a:r>
              <a:rPr lang="en-IN" dirty="0"/>
              <a:t>Proposal about Brand Strategy</a:t>
            </a:r>
          </a:p>
        </p:txBody>
      </p:sp>
      <p:sp>
        <p:nvSpPr>
          <p:cNvPr id="3" name="Content Placeholder 2">
            <a:extLst>
              <a:ext uri="{FF2B5EF4-FFF2-40B4-BE49-F238E27FC236}">
                <a16:creationId xmlns:a16="http://schemas.microsoft.com/office/drawing/2014/main" id="{25E67A84-1C75-91DD-A2A7-A2FEF887151A}"/>
              </a:ext>
            </a:extLst>
          </p:cNvPr>
          <p:cNvSpPr>
            <a:spLocks noGrp="1"/>
          </p:cNvSpPr>
          <p:nvPr>
            <p:ph idx="1"/>
          </p:nvPr>
        </p:nvSpPr>
        <p:spPr/>
        <p:txBody>
          <a:bodyPr/>
          <a:lstStyle/>
          <a:p>
            <a:r>
              <a:rPr lang="en-IN" dirty="0"/>
              <a:t>The Lexus company need to expand the market in United States and US and European countries and increase the market.</a:t>
            </a:r>
          </a:p>
          <a:p>
            <a:r>
              <a:rPr lang="en-IN" dirty="0"/>
              <a:t>In present days the vehicle automotive marketing having the more renowned brands.</a:t>
            </a:r>
          </a:p>
          <a:p>
            <a:r>
              <a:rPr lang="en-IN" dirty="0"/>
              <a:t>The competition is increased with the more renowned brands in market, so need to work on the brand strategy proposals and company try to exposure the market in other countries as well. </a:t>
            </a:r>
          </a:p>
        </p:txBody>
      </p:sp>
    </p:spTree>
    <p:extLst>
      <p:ext uri="{BB962C8B-B14F-4D97-AF65-F5344CB8AC3E}">
        <p14:creationId xmlns:p14="http://schemas.microsoft.com/office/powerpoint/2010/main" val="2698119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9DE8-36DC-1E5D-2FCC-C27EBE0777BA}"/>
              </a:ext>
            </a:extLst>
          </p:cNvPr>
          <p:cNvSpPr>
            <a:spLocks noGrp="1"/>
          </p:cNvSpPr>
          <p:nvPr>
            <p:ph type="title"/>
          </p:nvPr>
        </p:nvSpPr>
        <p:spPr/>
        <p:txBody>
          <a:bodyPr/>
          <a:lstStyle/>
          <a:p>
            <a:r>
              <a:rPr lang="en-IN" dirty="0"/>
              <a:t>Brand Elements of Lexus</a:t>
            </a:r>
          </a:p>
        </p:txBody>
      </p:sp>
      <p:sp>
        <p:nvSpPr>
          <p:cNvPr id="3" name="Content Placeholder 2">
            <a:extLst>
              <a:ext uri="{FF2B5EF4-FFF2-40B4-BE49-F238E27FC236}">
                <a16:creationId xmlns:a16="http://schemas.microsoft.com/office/drawing/2014/main" id="{2FEF852F-7DB7-CDEA-D701-37A42A188BA8}"/>
              </a:ext>
            </a:extLst>
          </p:cNvPr>
          <p:cNvSpPr>
            <a:spLocks noGrp="1"/>
          </p:cNvSpPr>
          <p:nvPr>
            <p:ph idx="1"/>
          </p:nvPr>
        </p:nvSpPr>
        <p:spPr/>
        <p:txBody>
          <a:bodyPr/>
          <a:lstStyle/>
          <a:p>
            <a:r>
              <a:rPr lang="en-IN" dirty="0"/>
              <a:t>The brand elements of Lexus company is good and with that company have the good name in local and international markets.</a:t>
            </a:r>
          </a:p>
          <a:p>
            <a:r>
              <a:rPr lang="en-IN" dirty="0"/>
              <a:t>The company required to work on making of high standard products for achieving of top brand in market.</a:t>
            </a:r>
          </a:p>
          <a:p>
            <a:r>
              <a:rPr lang="en-IN" dirty="0"/>
              <a:t>Required to identify the right customer groups in market and try to attract that customers for improvement of brand image in market. </a:t>
            </a:r>
          </a:p>
        </p:txBody>
      </p:sp>
    </p:spTree>
    <p:extLst>
      <p:ext uri="{BB962C8B-B14F-4D97-AF65-F5344CB8AC3E}">
        <p14:creationId xmlns:p14="http://schemas.microsoft.com/office/powerpoint/2010/main" val="2767801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C5DD-5250-F48E-4198-9DC0737096FA}"/>
              </a:ext>
            </a:extLst>
          </p:cNvPr>
          <p:cNvSpPr>
            <a:spLocks noGrp="1"/>
          </p:cNvSpPr>
          <p:nvPr>
            <p:ph type="title"/>
          </p:nvPr>
        </p:nvSpPr>
        <p:spPr/>
        <p:txBody>
          <a:bodyPr/>
          <a:lstStyle/>
          <a:p>
            <a:r>
              <a:rPr lang="en-IN" dirty="0"/>
              <a:t>Brand Recommendation Details</a:t>
            </a:r>
          </a:p>
        </p:txBody>
      </p:sp>
      <p:sp>
        <p:nvSpPr>
          <p:cNvPr id="3" name="Content Placeholder 2">
            <a:extLst>
              <a:ext uri="{FF2B5EF4-FFF2-40B4-BE49-F238E27FC236}">
                <a16:creationId xmlns:a16="http://schemas.microsoft.com/office/drawing/2014/main" id="{93C934D8-B192-C481-EE11-12EBED3AEF73}"/>
              </a:ext>
            </a:extLst>
          </p:cNvPr>
          <p:cNvSpPr>
            <a:spLocks noGrp="1"/>
          </p:cNvSpPr>
          <p:nvPr>
            <p:ph idx="1"/>
          </p:nvPr>
        </p:nvSpPr>
        <p:spPr/>
        <p:txBody>
          <a:bodyPr/>
          <a:lstStyle/>
          <a:p>
            <a:r>
              <a:rPr lang="en-IN" dirty="0"/>
              <a:t>The company need to increase the marketing campaigns for the increase of the company products promotions and publicity about the products in market.</a:t>
            </a:r>
          </a:p>
          <a:p>
            <a:r>
              <a:rPr lang="en-IN" dirty="0"/>
              <a:t>The customer recognisability need to increase with the more marketing strategies and product promotions in market.</a:t>
            </a:r>
          </a:p>
          <a:p>
            <a:r>
              <a:rPr lang="en-IN" dirty="0"/>
              <a:t>The company required to increase promotions on countries are like </a:t>
            </a:r>
            <a:r>
              <a:rPr lang="en-US" dirty="0"/>
              <a:t>south Asia, South America, and Africa. </a:t>
            </a:r>
            <a:endParaRPr lang="en-IN" dirty="0"/>
          </a:p>
        </p:txBody>
      </p:sp>
    </p:spTree>
    <p:extLst>
      <p:ext uri="{BB962C8B-B14F-4D97-AF65-F5344CB8AC3E}">
        <p14:creationId xmlns:p14="http://schemas.microsoft.com/office/powerpoint/2010/main" val="88104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C5DD-5250-F48E-4198-9DC0737096FA}"/>
              </a:ext>
            </a:extLst>
          </p:cNvPr>
          <p:cNvSpPr>
            <a:spLocks noGrp="1"/>
          </p:cNvSpPr>
          <p:nvPr>
            <p:ph type="title"/>
          </p:nvPr>
        </p:nvSpPr>
        <p:spPr/>
        <p:txBody>
          <a:bodyPr/>
          <a:lstStyle/>
          <a:p>
            <a:r>
              <a:rPr lang="en-IN" dirty="0"/>
              <a:t>Brand Recommendation Details</a:t>
            </a:r>
          </a:p>
        </p:txBody>
      </p:sp>
      <p:sp>
        <p:nvSpPr>
          <p:cNvPr id="3" name="Content Placeholder 2">
            <a:extLst>
              <a:ext uri="{FF2B5EF4-FFF2-40B4-BE49-F238E27FC236}">
                <a16:creationId xmlns:a16="http://schemas.microsoft.com/office/drawing/2014/main" id="{93C934D8-B192-C481-EE11-12EBED3AEF73}"/>
              </a:ext>
            </a:extLst>
          </p:cNvPr>
          <p:cNvSpPr>
            <a:spLocks noGrp="1"/>
          </p:cNvSpPr>
          <p:nvPr>
            <p:ph idx="1"/>
          </p:nvPr>
        </p:nvSpPr>
        <p:spPr/>
        <p:txBody>
          <a:bodyPr/>
          <a:lstStyle/>
          <a:p>
            <a:r>
              <a:rPr lang="en-IN" dirty="0"/>
              <a:t>The high competition in the countries are American and European markets and need to improve the brand name and brand image in these markets.</a:t>
            </a:r>
          </a:p>
          <a:p>
            <a:r>
              <a:rPr lang="en-IN" dirty="0"/>
              <a:t>The company required to follow the latest trending brand strategies and try to improve the brand image in above mentioned markets and it will helpful for the improvement of the Lexus brand name and image in the international market also. </a:t>
            </a:r>
          </a:p>
        </p:txBody>
      </p:sp>
    </p:spTree>
    <p:extLst>
      <p:ext uri="{BB962C8B-B14F-4D97-AF65-F5344CB8AC3E}">
        <p14:creationId xmlns:p14="http://schemas.microsoft.com/office/powerpoint/2010/main" val="128234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93FB-E35A-B53B-15C9-1BAC1A4A1394}"/>
              </a:ext>
            </a:extLst>
          </p:cNvPr>
          <p:cNvSpPr>
            <a:spLocks noGrp="1"/>
          </p:cNvSpPr>
          <p:nvPr>
            <p:ph type="title"/>
          </p:nvPr>
        </p:nvSpPr>
        <p:spPr/>
        <p:txBody>
          <a:bodyPr/>
          <a:lstStyle/>
          <a:p>
            <a:r>
              <a:rPr lang="en-IN" dirty="0"/>
              <a:t>Marketing Strategies of Lexus</a:t>
            </a:r>
          </a:p>
        </p:txBody>
      </p:sp>
      <p:sp>
        <p:nvSpPr>
          <p:cNvPr id="3" name="Content Placeholder 2">
            <a:extLst>
              <a:ext uri="{FF2B5EF4-FFF2-40B4-BE49-F238E27FC236}">
                <a16:creationId xmlns:a16="http://schemas.microsoft.com/office/drawing/2014/main" id="{EEDE6158-9614-B756-2AC2-3D9AE80260D7}"/>
              </a:ext>
            </a:extLst>
          </p:cNvPr>
          <p:cNvSpPr>
            <a:spLocks noGrp="1"/>
          </p:cNvSpPr>
          <p:nvPr>
            <p:ph idx="1"/>
          </p:nvPr>
        </p:nvSpPr>
        <p:spPr/>
        <p:txBody>
          <a:bodyPr/>
          <a:lstStyle/>
          <a:p>
            <a:r>
              <a:rPr lang="en-IN" dirty="0"/>
              <a:t>In manufacturing wise design and make the high end products like cars for the very high-end consumers.</a:t>
            </a:r>
          </a:p>
          <a:p>
            <a:r>
              <a:rPr lang="en-IN" dirty="0"/>
              <a:t>Required to known about the ordinary customers like low or middle class customers and try to make the models for the ordinary customers with reasonable price.</a:t>
            </a:r>
          </a:p>
          <a:p>
            <a:r>
              <a:rPr lang="en-IN" dirty="0"/>
              <a:t>The brand performance is depends on the products price and need to do work on the pricing strategies for better growth in market. </a:t>
            </a:r>
          </a:p>
          <a:p>
            <a:endParaRPr lang="en-IN" dirty="0"/>
          </a:p>
        </p:txBody>
      </p:sp>
    </p:spTree>
    <p:extLst>
      <p:ext uri="{BB962C8B-B14F-4D97-AF65-F5344CB8AC3E}">
        <p14:creationId xmlns:p14="http://schemas.microsoft.com/office/powerpoint/2010/main" val="1886786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EC969-6032-7395-B611-50799BAA7FCD}"/>
              </a:ext>
            </a:extLst>
          </p:cNvPr>
          <p:cNvSpPr>
            <a:spLocks noGrp="1"/>
          </p:cNvSpPr>
          <p:nvPr>
            <p:ph type="title"/>
          </p:nvPr>
        </p:nvSpPr>
        <p:spPr/>
        <p:txBody>
          <a:bodyPr/>
          <a:lstStyle/>
          <a:p>
            <a:r>
              <a:rPr lang="en-IN" dirty="0"/>
              <a:t>Marketing Strategies of Lexus</a:t>
            </a:r>
          </a:p>
        </p:txBody>
      </p:sp>
      <p:sp>
        <p:nvSpPr>
          <p:cNvPr id="3" name="Content Placeholder 2">
            <a:extLst>
              <a:ext uri="{FF2B5EF4-FFF2-40B4-BE49-F238E27FC236}">
                <a16:creationId xmlns:a16="http://schemas.microsoft.com/office/drawing/2014/main" id="{903A7849-240C-F8E8-EA1F-CE6620A1C903}"/>
              </a:ext>
            </a:extLst>
          </p:cNvPr>
          <p:cNvSpPr>
            <a:spLocks noGrp="1"/>
          </p:cNvSpPr>
          <p:nvPr>
            <p:ph idx="1"/>
          </p:nvPr>
        </p:nvSpPr>
        <p:spPr/>
        <p:txBody>
          <a:bodyPr/>
          <a:lstStyle/>
          <a:p>
            <a:r>
              <a:rPr lang="en-IN" dirty="0"/>
              <a:t>The one more market strategy is need to establish the market in different places and increase the market.</a:t>
            </a:r>
          </a:p>
          <a:p>
            <a:r>
              <a:rPr lang="en-IN" dirty="0"/>
              <a:t>In global market or international wide market need to expand the Lexus market and try to increase the global customers.</a:t>
            </a:r>
          </a:p>
          <a:p>
            <a:endParaRPr lang="en-IN" dirty="0"/>
          </a:p>
        </p:txBody>
      </p:sp>
    </p:spTree>
    <p:extLst>
      <p:ext uri="{BB962C8B-B14F-4D97-AF65-F5344CB8AC3E}">
        <p14:creationId xmlns:p14="http://schemas.microsoft.com/office/powerpoint/2010/main" val="678470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D9B6-EF3D-280D-1D85-E71A5545A019}"/>
              </a:ext>
            </a:extLst>
          </p:cNvPr>
          <p:cNvSpPr>
            <a:spLocks noGrp="1"/>
          </p:cNvSpPr>
          <p:nvPr>
            <p:ph type="title"/>
          </p:nvPr>
        </p:nvSpPr>
        <p:spPr/>
        <p:txBody>
          <a:bodyPr/>
          <a:lstStyle/>
          <a:p>
            <a:r>
              <a:rPr lang="en-IN" dirty="0"/>
              <a:t>Marketing Strategies of Lexus</a:t>
            </a:r>
          </a:p>
        </p:txBody>
      </p:sp>
      <p:sp>
        <p:nvSpPr>
          <p:cNvPr id="3" name="Content Placeholder 2">
            <a:extLst>
              <a:ext uri="{FF2B5EF4-FFF2-40B4-BE49-F238E27FC236}">
                <a16:creationId xmlns:a16="http://schemas.microsoft.com/office/drawing/2014/main" id="{87B3DD74-0BBE-89C2-9131-9AFA92E417EC}"/>
              </a:ext>
            </a:extLst>
          </p:cNvPr>
          <p:cNvSpPr>
            <a:spLocks noGrp="1"/>
          </p:cNvSpPr>
          <p:nvPr>
            <p:ph idx="1"/>
          </p:nvPr>
        </p:nvSpPr>
        <p:spPr/>
        <p:txBody>
          <a:bodyPr/>
          <a:lstStyle/>
          <a:p>
            <a:r>
              <a:rPr lang="en-IN" dirty="0"/>
              <a:t>In marketing strategies promotions is one of the strategy. For improvement of sales of company products, need to do the more promotions in market like local and global markets.</a:t>
            </a:r>
          </a:p>
          <a:p>
            <a:r>
              <a:rPr lang="en-IN" dirty="0"/>
              <a:t>The Lexus company required to do more promotions with more promotional budget and try to attract the customers with the variety and trendy promotions and it will helpful for the improvement of the products sales in market.  </a:t>
            </a:r>
          </a:p>
        </p:txBody>
      </p:sp>
    </p:spTree>
    <p:extLst>
      <p:ext uri="{BB962C8B-B14F-4D97-AF65-F5344CB8AC3E}">
        <p14:creationId xmlns:p14="http://schemas.microsoft.com/office/powerpoint/2010/main" val="1893135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E154-CB16-AA78-49EB-C6F0B7906932}"/>
              </a:ext>
            </a:extLst>
          </p:cNvPr>
          <p:cNvSpPr>
            <a:spLocks noGrp="1"/>
          </p:cNvSpPr>
          <p:nvPr>
            <p:ph type="title"/>
          </p:nvPr>
        </p:nvSpPr>
        <p:spPr/>
        <p:txBody>
          <a:bodyPr/>
          <a:lstStyle/>
          <a:p>
            <a:r>
              <a:rPr lang="en-IN" dirty="0"/>
              <a:t>Lexus Brand Value Chain Analysis</a:t>
            </a:r>
          </a:p>
        </p:txBody>
      </p:sp>
      <p:sp>
        <p:nvSpPr>
          <p:cNvPr id="6" name="Content Placeholder 5">
            <a:extLst>
              <a:ext uri="{FF2B5EF4-FFF2-40B4-BE49-F238E27FC236}">
                <a16:creationId xmlns:a16="http://schemas.microsoft.com/office/drawing/2014/main" id="{7C45D7A3-45C2-C6A8-8935-6B0019C7C615}"/>
              </a:ext>
            </a:extLst>
          </p:cNvPr>
          <p:cNvSpPr>
            <a:spLocks noGrp="1"/>
          </p:cNvSpPr>
          <p:nvPr>
            <p:ph idx="1"/>
          </p:nvPr>
        </p:nvSpPr>
        <p:spPr/>
        <p:txBody>
          <a:bodyPr/>
          <a:lstStyle/>
          <a:p>
            <a:r>
              <a:rPr lang="en-IN" dirty="0"/>
              <a:t>The Lexus company need to conduct the Brand value chain analysis and it will useful for the improvement of performance of the brand in market.</a:t>
            </a:r>
          </a:p>
          <a:p>
            <a:r>
              <a:rPr lang="en-IN" dirty="0"/>
              <a:t>This analysis is different stages and the stages are </a:t>
            </a:r>
            <a:r>
              <a:rPr lang="en-US" dirty="0"/>
              <a:t>marketing program investment, the customer mindset, market performance, and the shareholder value details.</a:t>
            </a:r>
          </a:p>
          <a:p>
            <a:r>
              <a:rPr lang="en-IN" dirty="0"/>
              <a:t>The multiplies are included in the analysis are </a:t>
            </a:r>
            <a:r>
              <a:rPr lang="en-US" dirty="0"/>
              <a:t>program quality, marketplace conditions, and the investor sentiment and need to work on all these things in the brand value analysis. </a:t>
            </a:r>
            <a:endParaRPr lang="en-IN" dirty="0"/>
          </a:p>
        </p:txBody>
      </p:sp>
    </p:spTree>
    <p:extLst>
      <p:ext uri="{BB962C8B-B14F-4D97-AF65-F5344CB8AC3E}">
        <p14:creationId xmlns:p14="http://schemas.microsoft.com/office/powerpoint/2010/main" val="1976646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E154-CB16-AA78-49EB-C6F0B7906932}"/>
              </a:ext>
            </a:extLst>
          </p:cNvPr>
          <p:cNvSpPr>
            <a:spLocks noGrp="1"/>
          </p:cNvSpPr>
          <p:nvPr>
            <p:ph type="title"/>
          </p:nvPr>
        </p:nvSpPr>
        <p:spPr/>
        <p:txBody>
          <a:bodyPr/>
          <a:lstStyle/>
          <a:p>
            <a:r>
              <a:rPr lang="en-IN" dirty="0"/>
              <a:t>Lexus Brand Value Chain Analysis</a:t>
            </a:r>
          </a:p>
        </p:txBody>
      </p:sp>
      <p:pic>
        <p:nvPicPr>
          <p:cNvPr id="5" name="Picture 4">
            <a:extLst>
              <a:ext uri="{FF2B5EF4-FFF2-40B4-BE49-F238E27FC236}">
                <a16:creationId xmlns:a16="http://schemas.microsoft.com/office/drawing/2014/main" id="{CC045304-C38D-E647-7113-5E83B57FA33A}"/>
              </a:ext>
            </a:extLst>
          </p:cNvPr>
          <p:cNvPicPr>
            <a:picLocks noChangeAspect="1"/>
          </p:cNvPicPr>
          <p:nvPr/>
        </p:nvPicPr>
        <p:blipFill>
          <a:blip r:embed="rId2"/>
          <a:stretch>
            <a:fillRect/>
          </a:stretch>
        </p:blipFill>
        <p:spPr>
          <a:xfrm>
            <a:off x="2259898" y="2816353"/>
            <a:ext cx="7544188" cy="2813169"/>
          </a:xfrm>
          <a:prstGeom prst="rect">
            <a:avLst/>
          </a:prstGeom>
        </p:spPr>
      </p:pic>
    </p:spTree>
    <p:extLst>
      <p:ext uri="{BB962C8B-B14F-4D97-AF65-F5344CB8AC3E}">
        <p14:creationId xmlns:p14="http://schemas.microsoft.com/office/powerpoint/2010/main" val="62902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080B2-C23F-39DC-3BDE-D758E97BC58D}"/>
              </a:ext>
            </a:extLst>
          </p:cNvPr>
          <p:cNvSpPr>
            <a:spLocks noGrp="1"/>
          </p:cNvSpPr>
          <p:nvPr>
            <p:ph type="title"/>
          </p:nvPr>
        </p:nvSpPr>
        <p:spPr/>
        <p:txBody>
          <a:bodyPr>
            <a:normAutofit fontScale="90000"/>
          </a:bodyPr>
          <a:lstStyle/>
          <a:p>
            <a:r>
              <a:rPr lang="en-IN" dirty="0"/>
              <a:t>Lexus </a:t>
            </a:r>
            <a:r>
              <a:rPr lang="en-US" dirty="0"/>
              <a:t>Customer-based Brand Equity (CBBE) Model</a:t>
            </a:r>
            <a:endParaRPr lang="en-IN" dirty="0"/>
          </a:p>
        </p:txBody>
      </p:sp>
      <p:sp>
        <p:nvSpPr>
          <p:cNvPr id="3" name="Content Placeholder 2">
            <a:extLst>
              <a:ext uri="{FF2B5EF4-FFF2-40B4-BE49-F238E27FC236}">
                <a16:creationId xmlns:a16="http://schemas.microsoft.com/office/drawing/2014/main" id="{FC5EA3E6-8F1B-F1A7-0C4C-FD809B95900F}"/>
              </a:ext>
            </a:extLst>
          </p:cNvPr>
          <p:cNvSpPr>
            <a:spLocks noGrp="1"/>
          </p:cNvSpPr>
          <p:nvPr>
            <p:ph idx="1"/>
          </p:nvPr>
        </p:nvSpPr>
        <p:spPr/>
        <p:txBody>
          <a:bodyPr>
            <a:normAutofit lnSpcReduction="10000"/>
          </a:bodyPr>
          <a:lstStyle/>
          <a:p>
            <a:r>
              <a:rPr lang="en-IN" dirty="0"/>
              <a:t>The brand development is required for the improvement of brand performance of the Lexus company in market.</a:t>
            </a:r>
          </a:p>
          <a:p>
            <a:r>
              <a:rPr lang="en-IN" dirty="0"/>
              <a:t>The brand development having the stages are </a:t>
            </a:r>
          </a:p>
          <a:p>
            <a:r>
              <a:rPr lang="en-IN" dirty="0"/>
              <a:t>Relationship</a:t>
            </a:r>
          </a:p>
          <a:p>
            <a:r>
              <a:rPr lang="en-IN" dirty="0"/>
              <a:t>Response</a:t>
            </a:r>
          </a:p>
          <a:p>
            <a:r>
              <a:rPr lang="en-IN" dirty="0"/>
              <a:t>Meaning</a:t>
            </a:r>
          </a:p>
          <a:p>
            <a:r>
              <a:rPr lang="en-IN" dirty="0"/>
              <a:t>Identity</a:t>
            </a:r>
          </a:p>
        </p:txBody>
      </p:sp>
    </p:spTree>
    <p:extLst>
      <p:ext uri="{BB962C8B-B14F-4D97-AF65-F5344CB8AC3E}">
        <p14:creationId xmlns:p14="http://schemas.microsoft.com/office/powerpoint/2010/main" val="2135962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080B2-C23F-39DC-3BDE-D758E97BC58D}"/>
              </a:ext>
            </a:extLst>
          </p:cNvPr>
          <p:cNvSpPr>
            <a:spLocks noGrp="1"/>
          </p:cNvSpPr>
          <p:nvPr>
            <p:ph type="title"/>
          </p:nvPr>
        </p:nvSpPr>
        <p:spPr/>
        <p:txBody>
          <a:bodyPr>
            <a:normAutofit fontScale="90000"/>
          </a:bodyPr>
          <a:lstStyle/>
          <a:p>
            <a:r>
              <a:rPr lang="en-IN" dirty="0"/>
              <a:t>Lexus </a:t>
            </a:r>
            <a:r>
              <a:rPr lang="en-US" dirty="0"/>
              <a:t>Customer-based Brand Equity (CBBE) Model</a:t>
            </a:r>
            <a:endParaRPr lang="en-IN" dirty="0"/>
          </a:p>
        </p:txBody>
      </p:sp>
      <p:pic>
        <p:nvPicPr>
          <p:cNvPr id="5" name="Picture 4">
            <a:extLst>
              <a:ext uri="{FF2B5EF4-FFF2-40B4-BE49-F238E27FC236}">
                <a16:creationId xmlns:a16="http://schemas.microsoft.com/office/drawing/2014/main" id="{3CFF0ED3-280E-2702-901E-F75863CE9781}"/>
              </a:ext>
            </a:extLst>
          </p:cNvPr>
          <p:cNvPicPr>
            <a:picLocks noChangeAspect="1"/>
          </p:cNvPicPr>
          <p:nvPr/>
        </p:nvPicPr>
        <p:blipFill>
          <a:blip r:embed="rId2"/>
          <a:stretch>
            <a:fillRect/>
          </a:stretch>
        </p:blipFill>
        <p:spPr>
          <a:xfrm>
            <a:off x="3161644" y="2608874"/>
            <a:ext cx="5740695" cy="3359323"/>
          </a:xfrm>
          <a:prstGeom prst="rect">
            <a:avLst/>
          </a:prstGeom>
        </p:spPr>
      </p:pic>
    </p:spTree>
    <p:extLst>
      <p:ext uri="{BB962C8B-B14F-4D97-AF65-F5344CB8AC3E}">
        <p14:creationId xmlns:p14="http://schemas.microsoft.com/office/powerpoint/2010/main" val="1796148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E154-CB16-AA78-49EB-C6F0B7906932}"/>
              </a:ext>
            </a:extLst>
          </p:cNvPr>
          <p:cNvSpPr>
            <a:spLocks noGrp="1"/>
          </p:cNvSpPr>
          <p:nvPr>
            <p:ph type="title"/>
          </p:nvPr>
        </p:nvSpPr>
        <p:spPr/>
        <p:txBody>
          <a:bodyPr/>
          <a:lstStyle/>
          <a:p>
            <a:r>
              <a:rPr lang="en-IN" dirty="0"/>
              <a:t>Lexus Brand Strength Improvement</a:t>
            </a:r>
          </a:p>
        </p:txBody>
      </p:sp>
      <p:pic>
        <p:nvPicPr>
          <p:cNvPr id="4" name="Picture 3">
            <a:extLst>
              <a:ext uri="{FF2B5EF4-FFF2-40B4-BE49-F238E27FC236}">
                <a16:creationId xmlns:a16="http://schemas.microsoft.com/office/drawing/2014/main" id="{813AEAEA-1851-7F1C-8049-52D4A382EC1A}"/>
              </a:ext>
            </a:extLst>
          </p:cNvPr>
          <p:cNvPicPr>
            <a:picLocks noChangeAspect="1"/>
          </p:cNvPicPr>
          <p:nvPr/>
        </p:nvPicPr>
        <p:blipFill>
          <a:blip r:embed="rId2"/>
          <a:stretch>
            <a:fillRect/>
          </a:stretch>
        </p:blipFill>
        <p:spPr>
          <a:xfrm>
            <a:off x="2295329" y="2850103"/>
            <a:ext cx="7601341" cy="2766676"/>
          </a:xfrm>
          <a:prstGeom prst="rect">
            <a:avLst/>
          </a:prstGeom>
        </p:spPr>
      </p:pic>
    </p:spTree>
    <p:extLst>
      <p:ext uri="{BB962C8B-B14F-4D97-AF65-F5344CB8AC3E}">
        <p14:creationId xmlns:p14="http://schemas.microsoft.com/office/powerpoint/2010/main" val="3554555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75105-BD69-05B0-D1CA-2CAC2CB2E685}"/>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857D4F89-2DF1-2B75-A2F0-9DAD02E5E55C}"/>
              </a:ext>
            </a:extLst>
          </p:cNvPr>
          <p:cNvSpPr>
            <a:spLocks noGrp="1"/>
          </p:cNvSpPr>
          <p:nvPr>
            <p:ph idx="1"/>
          </p:nvPr>
        </p:nvSpPr>
        <p:spPr/>
        <p:txBody>
          <a:bodyPr/>
          <a:lstStyle/>
          <a:p>
            <a:r>
              <a:rPr lang="en-IN" dirty="0"/>
              <a:t>The Lexus company need to work on the improvement of the marketing strategies and improvement of the brand performance in market.</a:t>
            </a:r>
          </a:p>
          <a:p>
            <a:r>
              <a:rPr lang="en-IN" dirty="0"/>
              <a:t>We discussed about the different types of the strategies recommendations for better growth of the Lexus company brand image in different markets like local and global markets.</a:t>
            </a:r>
          </a:p>
          <a:p>
            <a:r>
              <a:rPr lang="en-IN" dirty="0"/>
              <a:t>These strategies will helpful for the increase of Lexus company profits and sales</a:t>
            </a:r>
          </a:p>
        </p:txBody>
      </p:sp>
    </p:spTree>
    <p:extLst>
      <p:ext uri="{BB962C8B-B14F-4D97-AF65-F5344CB8AC3E}">
        <p14:creationId xmlns:p14="http://schemas.microsoft.com/office/powerpoint/2010/main" val="2449238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15C3-0EB5-0840-A76B-C36F170E79F4}"/>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E47DE817-2456-47B9-3BEE-4E1845DE710E}"/>
              </a:ext>
            </a:extLst>
          </p:cNvPr>
          <p:cNvSpPr>
            <a:spLocks noGrp="1"/>
          </p:cNvSpPr>
          <p:nvPr>
            <p:ph idx="1"/>
          </p:nvPr>
        </p:nvSpPr>
        <p:spPr/>
        <p:txBody>
          <a:bodyPr/>
          <a:lstStyle/>
          <a:p>
            <a:r>
              <a:rPr lang="en-US" dirty="0"/>
              <a:t>Osaki, T.. (2011). A study on premium marketing: The case of Lexus in Japan. 5. 55-58. </a:t>
            </a:r>
            <a:endParaRPr lang="en-IN" dirty="0"/>
          </a:p>
        </p:txBody>
      </p:sp>
    </p:spTree>
    <p:extLst>
      <p:ext uri="{BB962C8B-B14F-4D97-AF65-F5344CB8AC3E}">
        <p14:creationId xmlns:p14="http://schemas.microsoft.com/office/powerpoint/2010/main" val="110705942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58</TotalTime>
  <Words>1083</Words>
  <Application>Microsoft Office PowerPoint</Application>
  <PresentationFormat>Widescreen</PresentationFormat>
  <Paragraphs>65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Organic</vt:lpstr>
      <vt:lpstr>Strategic Recommendation for Lexus Company</vt:lpstr>
      <vt:lpstr>Introduction about Lexus</vt:lpstr>
      <vt:lpstr>Lexus Brand Management Details</vt:lpstr>
      <vt:lpstr>Lexus Brand Management Details</vt:lpstr>
      <vt:lpstr>Lexus Brand Management Changes</vt:lpstr>
      <vt:lpstr>Proposal about Brand Strategy</vt:lpstr>
      <vt:lpstr>Proposal about Brand Strategy</vt:lpstr>
      <vt:lpstr>Brand Elements of Lexus</vt:lpstr>
      <vt:lpstr>Brand Recommendation Details</vt:lpstr>
      <vt:lpstr>Brand Recommendation Details</vt:lpstr>
      <vt:lpstr>Marketing Strategies of Lexus</vt:lpstr>
      <vt:lpstr>Marketing Strategies of Lexus</vt:lpstr>
      <vt:lpstr>Marketing Strategies of Lexus</vt:lpstr>
      <vt:lpstr>Lexus Brand Value Chain Analysis</vt:lpstr>
      <vt:lpstr>Lexus Brand Value Chain Analysis</vt:lpstr>
      <vt:lpstr>Lexus Customer-based Brand Equity (CBBE) Model</vt:lpstr>
      <vt:lpstr>Lexus Customer-based Brand Equity (CBBE) Model</vt:lpstr>
      <vt:lpstr>Lexus Brand Strength Improvement</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Recommendation for Lexus Company</dc:title>
  <dc:creator>harshad Gali</dc:creator>
  <cp:lastModifiedBy>kodalijeevan756@outlook.com</cp:lastModifiedBy>
  <cp:revision>38</cp:revision>
  <dcterms:created xsi:type="dcterms:W3CDTF">2023-12-12T16:57:05Z</dcterms:created>
  <dcterms:modified xsi:type="dcterms:W3CDTF">2023-12-13T16:58:28Z</dcterms:modified>
</cp:coreProperties>
</file>